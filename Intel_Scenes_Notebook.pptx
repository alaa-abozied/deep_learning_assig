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1097280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365760"/>
            <a:ext cx="731520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 Scene 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 ·  Transfer Learning  ·  6-Class Recognition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7772400" cy="27432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— Intel Image Classification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18653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buildings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forest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29992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glacier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1828800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4872" y="18653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mountain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2395728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04872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31720" y="2962656"/>
            <a:ext cx="1783080" cy="47548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04872" y="29992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street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1828800"/>
            <a:ext cx="1920240" cy="603504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15968" y="18562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~25 000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15968" y="21396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2523744"/>
            <a:ext cx="1920240" cy="603504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15968" y="25511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150×150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15968" y="28346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218688"/>
            <a:ext cx="1920240" cy="603504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15968" y="32461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224×224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315968" y="352958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Input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3913632"/>
            <a:ext cx="1920240" cy="603504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15968" y="39410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/ 20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15968" y="42245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Modules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55080" y="1828800"/>
            <a:ext cx="2606040" cy="56692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1828800"/>
            <a:ext cx="329184" cy="566928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92024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11696" y="186537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DatasetDownloader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11696" y="21122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 auto-download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55080" y="2450592"/>
            <a:ext cx="2606040" cy="56692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2450592"/>
            <a:ext cx="329184" cy="566928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54203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11696" y="24871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SceneDataModule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11696" y="27340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+ augmentation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3072384"/>
            <a:ext cx="2606040" cy="56692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55080" y="3072384"/>
            <a:ext cx="329184" cy="566928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163824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11696" y="31089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EfficientNetBuilder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11696" y="335584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unfreeze / compile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55080" y="3694176"/>
            <a:ext cx="2606040" cy="56692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5080" y="3694176"/>
            <a:ext cx="329184" cy="566928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78561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11696" y="373075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CallbackFactory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11696" y="397764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/ early stop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55080" y="4315968"/>
            <a:ext cx="2606040" cy="566928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55080" y="4315968"/>
            <a:ext cx="329184" cy="566928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440740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11696" y="435254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11696" y="45994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plots, reports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of 2  ·  Intel Scene Classification 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A18"/>
          </a:solidFill>
          <a:ln w="12700">
            <a:solidFill>
              <a:srgbClr val="162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 &amp;  Data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— EfficientNetB0 + Custom Head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297680" cy="438912"/>
          </a:xfrm>
          <a:prstGeom prst="rect">
            <a:avLst/>
          </a:prstGeom>
          <a:solidFill>
            <a:srgbClr val="2D6A2F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910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224×224×3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975104"/>
            <a:ext cx="36576" cy="73152"/>
          </a:xfrm>
          <a:prstGeom prst="rect">
            <a:avLst/>
          </a:prstGeom>
          <a:solidFill>
            <a:srgbClr val="6B9E6E"/>
          </a:solidFill>
          <a:ln w="12700">
            <a:solidFill>
              <a:srgbClr val="6B9E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48256"/>
            <a:ext cx="4297680" cy="438912"/>
          </a:xfrm>
          <a:prstGeom prst="rect">
            <a:avLst/>
          </a:prstGeom>
          <a:solidFill>
            <a:srgbClr val="1A4D1C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03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TRAIN ] Augmentation Layers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487168"/>
            <a:ext cx="36576" cy="73152"/>
          </a:xfrm>
          <a:prstGeom prst="rect">
            <a:avLst/>
          </a:prstGeom>
          <a:solidFill>
            <a:srgbClr val="6B9E6E"/>
          </a:solidFill>
          <a:ln w="12700">
            <a:solidFill>
              <a:srgbClr val="6B9E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0320"/>
            <a:ext cx="4297680" cy="438912"/>
          </a:xfrm>
          <a:prstGeom prst="rect">
            <a:avLst/>
          </a:prstGeom>
          <a:solidFill>
            <a:srgbClr val="2D6A2F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6151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 (ImageNet weights)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999232"/>
            <a:ext cx="36576" cy="73152"/>
          </a:xfrm>
          <a:prstGeom prst="rect">
            <a:avLst/>
          </a:prstGeom>
          <a:solidFill>
            <a:srgbClr val="6B9E6E"/>
          </a:solidFill>
          <a:ln w="12700">
            <a:solidFill>
              <a:srgbClr val="6B9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72384"/>
            <a:ext cx="4297680" cy="438912"/>
          </a:xfrm>
          <a:prstGeom prst="rect">
            <a:avLst/>
          </a:prstGeom>
          <a:solidFill>
            <a:srgbClr val="1E3B21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1272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511296"/>
            <a:ext cx="36576" cy="73152"/>
          </a:xfrm>
          <a:prstGeom prst="rect">
            <a:avLst/>
          </a:prstGeom>
          <a:solidFill>
            <a:srgbClr val="6B9E6E"/>
          </a:solidFill>
          <a:ln w="12700">
            <a:solidFill>
              <a:srgbClr val="6B9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84448"/>
            <a:ext cx="4297680" cy="438912"/>
          </a:xfrm>
          <a:prstGeom prst="rect">
            <a:avLst/>
          </a:prstGeom>
          <a:solidFill>
            <a:srgbClr val="1E3B21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6393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Dense(256, ReLU)  →  BatchNorm  →  Dropout(0.4)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4023360"/>
            <a:ext cx="36576" cy="73152"/>
          </a:xfrm>
          <a:prstGeom prst="rect">
            <a:avLst/>
          </a:prstGeom>
          <a:solidFill>
            <a:srgbClr val="6B9E6E"/>
          </a:solidFill>
          <a:ln w="12700">
            <a:solidFill>
              <a:srgbClr val="6B9E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96512"/>
            <a:ext cx="4297680" cy="438912"/>
          </a:xfrm>
          <a:prstGeom prst="rect">
            <a:avLst/>
          </a:prstGeom>
          <a:solidFill>
            <a:srgbClr val="2D5C30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1513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Dense(6, Softmax)  →  Scene Class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4297680" cy="365760"/>
          </a:xfrm>
          <a:prstGeom prst="rect">
            <a:avLst/>
          </a:prstGeom>
          <a:solidFill>
            <a:srgbClr val="1E3B21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45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EfficientNetB0 has 4× fewer params than VGG16 with higher accuracy on small inputs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SceneDataModule — tf.data Pipeline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536192"/>
            <a:ext cx="3840480" cy="1508760"/>
          </a:xfrm>
          <a:prstGeom prst="rect">
            <a:avLst/>
          </a:prstGeom>
          <a:solidFill>
            <a:srgbClr val="162A18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Augmentation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18836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RandomFlip  (horizontal)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2103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RandomBrightness  ±0.15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322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RandomContrast  0.85–1.15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25420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RandomHue  ±0.05   RandomSaturation  0.8–1.2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7614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 Zoom  (crop + resize  85–100%)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163824"/>
            <a:ext cx="3840480" cy="384048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3163824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3364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re-reading files every epoch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602736"/>
            <a:ext cx="3840480" cy="384048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0" y="3602736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3630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prefetch(AUTOTUNE)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38039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GPU fed without idle time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041648"/>
            <a:ext cx="3840480" cy="384048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0" y="4041648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8928" y="4069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 parallel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38928" y="4242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runs in parallel threads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480560"/>
            <a:ext cx="3840480" cy="384048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0" y="4480560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45079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7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shuffle (val)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46817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always in fixed order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64608" y="1115568"/>
            <a:ext cx="27432" cy="3840480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2861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Scenes Notebook  ·  Slide 3 of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Training  &amp; 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4023360" cy="2743200"/>
          </a:xfrm>
          <a:prstGeom prst="rect">
            <a:avLst/>
          </a:prstGeom>
          <a:solidFill>
            <a:srgbClr val="162A18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49808"/>
            <a:ext cx="4023360" cy="457200"/>
          </a:xfrm>
          <a:prstGeom prst="rect">
            <a:avLst/>
          </a:prstGeom>
          <a:solidFill>
            <a:srgbClr val="2D6A2F"/>
          </a:solidFill>
          <a:ln w="12700">
            <a:solidFill>
              <a:srgbClr val="2D6A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7680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804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786384"/>
            <a:ext cx="118872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79552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1e-3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07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fully frozen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007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Dense head trains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093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LR safe — weights are random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 patience = 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749808"/>
            <a:ext cx="4023360" cy="2743200"/>
          </a:xfrm>
          <a:prstGeom prst="rect">
            <a:avLst/>
          </a:prstGeom>
          <a:solidFill>
            <a:srgbClr val="162A18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749808"/>
            <a:ext cx="4023360" cy="457200"/>
          </a:xfrm>
          <a:prstGeom prst="rect">
            <a:avLst/>
          </a:prstGeom>
          <a:solidFill>
            <a:srgbClr val="1C3B1E"/>
          </a:solidFill>
          <a:ln w="12700">
            <a:solidFill>
              <a:srgbClr val="1C3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7680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60720" y="804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920" y="786384"/>
            <a:ext cx="1188720" cy="3657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9208" y="79552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1e-5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307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backbone layers unfrozen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7007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LR prevents catastrophic forgetting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093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stay frozen (edges, textures)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 factor = 0.5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15  (initial_epoch = 15)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Callbacks — Applied to Both Phases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1627632" cy="676656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0624" y="40965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" y="4361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best val_acc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66544" y="4069080"/>
            <a:ext cx="1627632" cy="676656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121408" y="40965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21408" y="4361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67328" y="4069080"/>
            <a:ext cx="1627632" cy="676656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22192" y="40965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22192" y="4361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= 0.5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68112" y="4069080"/>
            <a:ext cx="1627632" cy="676656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22976" y="40965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22976" y="4361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per phase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68896" y="4069080"/>
            <a:ext cx="1627632" cy="676656"/>
          </a:xfrm>
          <a:prstGeom prst="rect">
            <a:avLst/>
          </a:prstGeom>
          <a:solidFill>
            <a:srgbClr val="1E3B21"/>
          </a:solidFill>
          <a:ln w="12700">
            <a:solidFill>
              <a:srgbClr val="2D6A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23760" y="40965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CSVLogger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4361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to CSV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Scene Classification — EfficientNetB0 Fine-Tuning</dc:title>
  <dc:subject>PptxGenJS Presentation</dc:subject>
  <dc:creator>PptxGenJS</dc:creator>
  <cp:lastModifiedBy>PptxGenJS</cp:lastModifiedBy>
  <cp:revision>1</cp:revision>
  <dcterms:created xsi:type="dcterms:W3CDTF">2026-02-22T01:07:59Z</dcterms:created>
  <dcterms:modified xsi:type="dcterms:W3CDTF">2026-02-22T01:07:59Z</dcterms:modified>
</cp:coreProperties>
</file>